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9" r:id="rId5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Serverless Data Processing System using AWS (EC2, Lambda, S3, DynamoDB, SQS, SNS)</a:t>
            </a:r>
            <a:endParaRPr lang="en-US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0236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en-US" sz="3200"/>
              <a:t>BY</a:t>
            </a:r>
            <a:endParaRPr lang="en-US" altLang="en-US" sz="3200"/>
          </a:p>
          <a:p>
            <a:pPr algn="r"/>
            <a:r>
              <a:rPr lang="en-US" altLang="en-US" sz="3200"/>
              <a:t>AMRITHA SS</a:t>
            </a:r>
            <a:endParaRPr lang="en-US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+mn-lt"/>
                <a:cs typeface="+mn-lt"/>
              </a:rPr>
              <a:t>PROJECT OVERVIEW</a:t>
            </a:r>
            <a:endParaRPr lang="en-US" sz="4800" b="1">
              <a:latin typeface="+mn-lt"/>
              <a:cs typeface="+mn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This project demonstrates how to design and implement a scalable, serverless data processing architecture using AWS services.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system:</a:t>
            </a:r>
            <a:endParaRPr lang="en-US" altLang="en-US"/>
          </a:p>
          <a:p>
            <a:r>
              <a:rPr lang="en-US" altLang="en-US"/>
              <a:t>Accepts data from a web server</a:t>
            </a:r>
            <a:endParaRPr lang="en-US" altLang="en-US"/>
          </a:p>
          <a:p>
            <a:r>
              <a:rPr lang="en-US" altLang="en-US"/>
              <a:t>Accepts data from a web server</a:t>
            </a:r>
            <a:endParaRPr lang="en-US" altLang="en-US"/>
          </a:p>
          <a:p>
            <a:r>
              <a:rPr lang="en-US" altLang="en-US"/>
              <a:t>Processes data asynchronously</a:t>
            </a:r>
            <a:endParaRPr lang="en-US" altLang="en-US"/>
          </a:p>
          <a:p>
            <a:r>
              <a:rPr lang="en-US" altLang="en-US"/>
              <a:t>Sends real-time notifications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architecture follows decoupled, event-driven cloud design principles.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+mn-lt"/>
                <a:cs typeface="+mn-lt"/>
              </a:rPr>
              <a:t>PROBLEM STATEMENT</a:t>
            </a:r>
            <a:endParaRPr lang="en-US" sz="4800" b="1">
              <a:latin typeface="+mn-lt"/>
              <a:cs typeface="+mn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Traditional applications face challenges such as:</a:t>
            </a:r>
            <a:endParaRPr lang="en-US" altLang="en-US" b="1"/>
          </a:p>
          <a:p>
            <a:r>
              <a:rPr lang="en-US" altLang="en-US"/>
              <a:t>Tight coupling between components</a:t>
            </a:r>
            <a:endParaRPr lang="en-US" altLang="en-US"/>
          </a:p>
          <a:p>
            <a:r>
              <a:rPr lang="en-US" altLang="en-US"/>
              <a:t>Poor scalability</a:t>
            </a:r>
            <a:endParaRPr lang="en-US" altLang="en-US"/>
          </a:p>
          <a:p>
            <a:r>
              <a:rPr lang="en-US" altLang="en-US"/>
              <a:t>Manual server management</a:t>
            </a:r>
            <a:endParaRPr lang="en-US" altLang="en-US"/>
          </a:p>
          <a:p>
            <a:r>
              <a:rPr lang="en-US" altLang="en-US"/>
              <a:t>No real-time alert mechanism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GOAL:</a:t>
            </a:r>
            <a:endParaRPr lang="en-US" b="1"/>
          </a:p>
          <a:p>
            <a:pPr marL="0" indent="0">
              <a:buNone/>
            </a:pPr>
            <a:r>
              <a:rPr lang="en-US" altLang="en-US"/>
              <a:t>Build a cloud-native solution that is:</a:t>
            </a:r>
            <a:endParaRPr lang="en-US" altLang="en-US"/>
          </a:p>
          <a:p>
            <a:r>
              <a:rPr lang="en-US" altLang="en-US"/>
              <a:t>Scalable</a:t>
            </a:r>
            <a:endParaRPr lang="en-US" altLang="en-US"/>
          </a:p>
          <a:p>
            <a:r>
              <a:rPr lang="en-US" altLang="en-US"/>
              <a:t>Fault-tolerant</a:t>
            </a:r>
            <a:endParaRPr lang="en-US" altLang="en-US"/>
          </a:p>
          <a:p>
            <a:r>
              <a:rPr lang="en-US" altLang="en-US"/>
              <a:t>Cost-efficient</a:t>
            </a:r>
            <a:endParaRPr lang="en-US" altLang="en-US"/>
          </a:p>
          <a:p>
            <a:r>
              <a:rPr lang="en-US" altLang="en-US"/>
              <a:t>Event-driven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SOLUTION ARCHITECTURE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solution uses AWS managed services to create a fully decoupled pipeline: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EC2 hosts the application server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SQS handles asynchronous message queuing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Lambda processes messages automatically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DynamoDB stores structured data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S3 stores raw or backup data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SNS sends notifications on successful processing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AWS SERVICES USED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lnSpc>
                <a:spcPct val="100000"/>
              </a:lnSpc>
            </a:pPr>
            <a:r>
              <a:rPr lang="en-US" altLang="en-US" sz="2700"/>
              <a:t>EC2 – Application server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SQS – Message queue for decoupling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Lambda – Serverless data processing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DynamoDB – NoSQL database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S3 – Object storage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SNS – Notification service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IAM – Secure access management</a:t>
            </a:r>
            <a:endParaRPr lang="en-US" altLang="en-US" sz="2700"/>
          </a:p>
          <a:p>
            <a:pPr>
              <a:lnSpc>
                <a:spcPct val="100000"/>
              </a:lnSpc>
            </a:pPr>
            <a:r>
              <a:rPr lang="en-US" altLang="en-US" sz="2700"/>
              <a:t>CloudWatch – Monitoring and logs</a:t>
            </a:r>
            <a:endParaRPr lang="en-US" altLang="en-US"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+mn-lt"/>
                <a:cs typeface="+mn-lt"/>
              </a:rPr>
              <a:t>EC2 - APPLICATION SERVER</a:t>
            </a:r>
            <a:endParaRPr lang="en-US" sz="4800" b="1">
              <a:latin typeface="+mn-lt"/>
              <a:cs typeface="+mn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EC2 hosts the backend server</a:t>
            </a:r>
            <a:endParaRPr lang="en-US" altLang="en-US"/>
          </a:p>
          <a:p>
            <a:r>
              <a:rPr lang="en-US" altLang="en-US"/>
              <a:t>Accepts user input or application data</a:t>
            </a:r>
            <a:endParaRPr lang="en-US" altLang="en-US"/>
          </a:p>
          <a:p>
            <a:r>
              <a:rPr lang="en-US" altLang="en-US"/>
              <a:t>Sends messages to SQS instead of directly calling services</a:t>
            </a:r>
            <a:endParaRPr lang="en-US" altLang="en-US"/>
          </a:p>
          <a:p>
            <a:r>
              <a:rPr lang="en-US" altLang="en-US"/>
              <a:t>Ensures loose coupling and better scalability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Why EC2?</a:t>
            </a:r>
            <a:endParaRPr lang="en-US" altLang="en-US" b="1"/>
          </a:p>
          <a:p>
            <a:r>
              <a:rPr lang="en-US" altLang="en-US"/>
              <a:t>Full control over server</a:t>
            </a:r>
            <a:endParaRPr lang="en-US" altLang="en-US"/>
          </a:p>
          <a:p>
            <a:r>
              <a:rPr lang="en-US" altLang="en-US"/>
              <a:t>Easy integration with AWS SDK</a:t>
            </a:r>
            <a:endParaRPr lang="en-US" altLang="en-US"/>
          </a:p>
          <a:p>
            <a:r>
              <a:rPr lang="en-US" altLang="en-US"/>
              <a:t>Suitable for custom backend logic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SQS - MESSAGE QUEUE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Acts as a buffer between EC2 and Lambda</a:t>
            </a:r>
            <a:endParaRPr lang="en-US" altLang="en-US"/>
          </a:p>
          <a:p>
            <a:r>
              <a:rPr lang="en-US" altLang="en-US"/>
              <a:t>Stores incoming messages safely</a:t>
            </a:r>
            <a:endParaRPr lang="en-US" altLang="en-US"/>
          </a:p>
          <a:p>
            <a:r>
              <a:rPr lang="en-US" altLang="en-US"/>
              <a:t>Ensures no data loss during traffic spikes</a:t>
            </a:r>
            <a:endParaRPr lang="en-US" altLang="en-US"/>
          </a:p>
          <a:p>
            <a:r>
              <a:rPr lang="en-US" altLang="en-US"/>
              <a:t>Enables asynchronous processing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Key Benefit: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Improves reliability and fault tolerance.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sz="5335" b="1">
                <a:latin typeface="Calibri" panose="020F0502020204030204" charset="0"/>
                <a:cs typeface="Calibri" panose="020F0502020204030204" charset="0"/>
              </a:rPr>
              <a:t>AWS LAMBDA - CORE PROCESSING LAYER</a:t>
            </a:r>
            <a:endParaRPr lang="en-US" sz="5335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700"/>
              <a:t>Lambda is triggered automatically by SQS</a:t>
            </a:r>
            <a:endParaRPr lang="en-US" altLang="en-US" sz="2700"/>
          </a:p>
          <a:p>
            <a:r>
              <a:rPr lang="en-US" altLang="en-US" sz="2700"/>
              <a:t>Extracts and processes message data</a:t>
            </a:r>
            <a:endParaRPr lang="en-US" altLang="en-US" sz="2700"/>
          </a:p>
          <a:p>
            <a:r>
              <a:rPr lang="en-US" altLang="en-US" sz="2700"/>
              <a:t>Performs validation and transformation</a:t>
            </a:r>
            <a:endParaRPr lang="en-US" altLang="en-US" sz="2700"/>
          </a:p>
          <a:p>
            <a:r>
              <a:rPr lang="en-US" altLang="en-US" sz="2700"/>
              <a:t>Stores processed data in DynamoDB and S3</a:t>
            </a:r>
            <a:endParaRPr lang="en-US" altLang="en-US" sz="2700"/>
          </a:p>
          <a:p>
            <a:r>
              <a:rPr lang="en-US" altLang="en-US" sz="2700"/>
              <a:t>Publishes notification to SNS</a:t>
            </a:r>
            <a:endParaRPr lang="en-US" altLang="en-US" sz="2700"/>
          </a:p>
          <a:p>
            <a:pPr marL="0" indent="0">
              <a:buNone/>
            </a:pPr>
            <a:r>
              <a:rPr lang="en-US" altLang="en-US" sz="2700" b="1"/>
              <a:t>Why Lambda?</a:t>
            </a:r>
            <a:endParaRPr lang="en-US" altLang="en-US" sz="2700" b="1"/>
          </a:p>
          <a:p>
            <a:r>
              <a:rPr lang="en-US" altLang="en-US" sz="2700"/>
              <a:t>No server management</a:t>
            </a:r>
            <a:endParaRPr lang="en-US" altLang="en-US" sz="2700"/>
          </a:p>
          <a:p>
            <a:r>
              <a:rPr lang="en-US" altLang="en-US" sz="2700"/>
              <a:t>Auto-scaling</a:t>
            </a:r>
            <a:endParaRPr lang="en-US" altLang="en-US" sz="2700"/>
          </a:p>
          <a:p>
            <a:r>
              <a:rPr lang="en-US" altLang="en-US" sz="2700"/>
              <a:t>Pay only for execution time</a:t>
            </a:r>
            <a:endParaRPr lang="en-US" altLang="en-US" sz="2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DYNAMO DB - DATA STORAGE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Stores structured application data</a:t>
            </a:r>
            <a:endParaRPr lang="en-US" altLang="en-US"/>
          </a:p>
          <a:p>
            <a:r>
              <a:rPr lang="en-US" altLang="en-US"/>
              <a:t>Fast, scalable NoSQL database</a:t>
            </a:r>
            <a:endParaRPr lang="en-US" altLang="en-US"/>
          </a:p>
          <a:p>
            <a:r>
              <a:rPr lang="en-US" altLang="en-US"/>
              <a:t>Used for real-time reads and writes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Use Case in Project:</a:t>
            </a:r>
            <a:endParaRPr lang="en-US" altLang="en-US" b="1"/>
          </a:p>
          <a:p>
            <a:r>
              <a:rPr lang="en-US" altLang="en-US"/>
              <a:t>Stores processed user or application records</a:t>
            </a:r>
            <a:endParaRPr lang="en-US" altLang="en-US"/>
          </a:p>
          <a:p>
            <a:r>
              <a:rPr lang="en-US" altLang="en-US"/>
              <a:t>Acts as primary data store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S3 - OBJECT STORAGE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Stores raw or backup data</a:t>
            </a:r>
            <a:endParaRPr lang="en-US" altLang="en-US"/>
          </a:p>
          <a:p>
            <a:r>
              <a:rPr lang="en-US" altLang="en-US"/>
              <a:t>Highly durable and cost-effective</a:t>
            </a:r>
            <a:endParaRPr lang="en-US" altLang="en-US"/>
          </a:p>
          <a:p>
            <a:r>
              <a:rPr lang="en-US" altLang="en-US"/>
              <a:t>Used for logs, payload backups, or archival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Why S3?</a:t>
            </a:r>
            <a:endParaRPr lang="en-US" altLang="en-US" b="1"/>
          </a:p>
          <a:p>
            <a:r>
              <a:rPr lang="en-US" altLang="en-US"/>
              <a:t>99.999999999% durability</a:t>
            </a:r>
            <a:endParaRPr lang="en-US" altLang="en-US"/>
          </a:p>
          <a:p>
            <a:r>
              <a:rPr lang="en-US" altLang="en-US"/>
              <a:t>Easy integration with Lambda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SNS - NOTIFICATION SERVICE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Sends notifications after successful processing</a:t>
            </a:r>
            <a:endParaRPr lang="en-US" altLang="en-US"/>
          </a:p>
          <a:p>
            <a:r>
              <a:rPr lang="en-US" altLang="en-US"/>
              <a:t>Supports email, SMS, and other endpoints</a:t>
            </a:r>
            <a:endParaRPr lang="en-US" altLang="en-US"/>
          </a:p>
          <a:p>
            <a:r>
              <a:rPr lang="en-US" altLang="en-US"/>
              <a:t>Improves system observability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Example Notifications:</a:t>
            </a:r>
            <a:endParaRPr lang="en-US" altLang="en-US" b="1"/>
          </a:p>
          <a:p>
            <a:r>
              <a:rPr lang="en-US" altLang="en-US"/>
              <a:t>Data processed successfully</a:t>
            </a:r>
            <a:endParaRPr lang="en-US" altLang="en-US"/>
          </a:p>
          <a:p>
            <a:r>
              <a:rPr lang="en-US" altLang="en-US"/>
              <a:t>Error or failure alerts (optional)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IAM - SECURITY &amp; ACCESS CONTROL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IAM roles ensure least-privilege access</a:t>
            </a:r>
            <a:endParaRPr lang="en-US" altLang="en-US"/>
          </a:p>
          <a:p>
            <a:r>
              <a:rPr lang="en-US" altLang="en-US"/>
              <a:t>Lambda role includes permissions for:</a:t>
            </a:r>
            <a:endParaRPr lang="en-US" altLang="en-US"/>
          </a:p>
          <a:p>
            <a:pPr lvl="1"/>
            <a:r>
              <a:rPr lang="en-US" altLang="en-US" sz="2800"/>
              <a:t>SQS</a:t>
            </a:r>
            <a:endParaRPr lang="en-US" altLang="en-US" sz="2800"/>
          </a:p>
          <a:p>
            <a:pPr lvl="1"/>
            <a:r>
              <a:rPr lang="en-US" altLang="en-US" sz="2800"/>
              <a:t>DynamoDB</a:t>
            </a:r>
            <a:endParaRPr lang="en-US" altLang="en-US" sz="2800"/>
          </a:p>
          <a:p>
            <a:pPr lvl="1"/>
            <a:r>
              <a:rPr lang="en-US" altLang="en-US" sz="2800"/>
              <a:t>S3</a:t>
            </a:r>
            <a:endParaRPr lang="en-US" altLang="en-US" sz="2800"/>
          </a:p>
          <a:p>
            <a:pPr lvl="1"/>
            <a:r>
              <a:rPr lang="en-US" altLang="en-US" sz="2800"/>
              <a:t>SNS</a:t>
            </a:r>
            <a:endParaRPr lang="en-US" altLang="en-US" sz="2800"/>
          </a:p>
          <a:p>
            <a:pPr lvl="1"/>
            <a:r>
              <a:rPr lang="en-US" altLang="en-US" sz="2800"/>
              <a:t>CloudWatch</a:t>
            </a:r>
            <a:endParaRPr lang="en-US" altLang="en-US" sz="2800"/>
          </a:p>
          <a:p>
            <a:pPr marL="457200" lvl="1" indent="0">
              <a:buNone/>
            </a:pPr>
            <a:endParaRPr lang="en-US" altLang="en-US"/>
          </a:p>
          <a:p>
            <a:pPr marL="0" lvl="0" indent="0">
              <a:buNone/>
            </a:pPr>
            <a:r>
              <a:rPr lang="en-US" altLang="en-US"/>
              <a:t>Security Best Practice:</a:t>
            </a:r>
            <a:endParaRPr lang="en-US" altLang="en-US"/>
          </a:p>
          <a:p>
            <a:pPr marL="0" lvl="0" indent="0">
              <a:buNone/>
            </a:pPr>
            <a:r>
              <a:rPr lang="en-US" altLang="en-US"/>
              <a:t>No hard-coded credentials anywhere.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MONITORING WITH CLOUDWATCH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Logs Lambda execution</a:t>
            </a:r>
            <a:endParaRPr lang="en-US" altLang="en-US"/>
          </a:p>
          <a:p>
            <a:r>
              <a:rPr lang="en-US" altLang="en-US"/>
              <a:t>Tracks errors and retries</a:t>
            </a:r>
            <a:endParaRPr lang="en-US" altLang="en-US"/>
          </a:p>
          <a:p>
            <a:r>
              <a:rPr lang="en-US" altLang="en-US"/>
              <a:t>Helps in debugging and performance tuning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Importance:</a:t>
            </a:r>
            <a:endParaRPr lang="en-US" altLang="en-US" b="1"/>
          </a:p>
          <a:p>
            <a:r>
              <a:rPr lang="en-US" altLang="en-US"/>
              <a:t>Operational visibility</a:t>
            </a:r>
            <a:endParaRPr lang="en-US" altLang="en-US"/>
          </a:p>
          <a:p>
            <a:r>
              <a:rPr lang="en-US" altLang="en-US"/>
              <a:t>Faster issue resolution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END-TO-END DATA FLOW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User sends data to EC2 server</a:t>
            </a:r>
            <a:endParaRPr lang="en-US" altLang="en-US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EC2 pushes message to SQS</a:t>
            </a:r>
            <a:endParaRPr lang="en-US" altLang="en-US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SQS triggers Lambda</a:t>
            </a:r>
            <a:endParaRPr lang="en-US" altLang="en-US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Lambda processes data</a:t>
            </a:r>
            <a:endParaRPr lang="en-US" altLang="en-US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Data stored in DynamoDB</a:t>
            </a:r>
            <a:endParaRPr lang="en-US" altLang="en-US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Backup saved in S3</a:t>
            </a:r>
            <a:endParaRPr lang="en-US" altLang="en-US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altLang="en-US"/>
              <a:t>SNS sends notification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+mn-lt"/>
                <a:cs typeface="+mn-lt"/>
              </a:rPr>
              <a:t>KEY DESIGN PRINCIPLES USED</a:t>
            </a:r>
            <a:endParaRPr lang="en-US" sz="4800" b="1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lnSpc>
                <a:spcPct val="100000"/>
              </a:lnSpc>
            </a:pPr>
            <a:r>
              <a:rPr lang="en-US" altLang="en-US"/>
              <a:t>Event-driven architecture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Loose coupling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Serverless computing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High availability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Scalability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Cost optimization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ADVANTAGES OF THIS ARCHITECTURE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lnSpc>
                <a:spcPct val="100000"/>
              </a:lnSpc>
            </a:pPr>
            <a:r>
              <a:rPr lang="en-US" altLang="en-US"/>
              <a:t>Automatically scalable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Highly fault-tolerant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Minimal operational overhead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Easy to extend with new services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Industry-standard cloud design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REAL-WORLD USE CASES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lnSpc>
                <a:spcPct val="100000"/>
              </a:lnSpc>
            </a:pPr>
            <a:r>
              <a:rPr lang="en-US" altLang="en-US"/>
              <a:t>User registration systems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Order processing pipelines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Log ingestion systems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Notification platforms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Data ingestion and analytics pipelines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LEARNING OUTCOMES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en-US" altLang="en-US"/>
              <a:t>Hands-on experience with AWS serverless services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Understanding of event-driven systems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Practical IAM security implementation</a:t>
            </a: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Real-world cloud architecture exposure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="1">
                <a:latin typeface="Calibri" panose="020F0502020204030204" charset="0"/>
                <a:cs typeface="Calibri" panose="020F0502020204030204" charset="0"/>
              </a:rPr>
              <a:t>CONCLUSION</a:t>
            </a:r>
            <a:endParaRPr lang="en-US" sz="4800" b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en-US" altLang="en-US"/>
              <a:t>This project demonstrates a production-ready, scalable AWS architecture using serverless and managed services.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It follows cloud best practices and is suitable for real-world enterprise applications.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670175"/>
            <a:ext cx="10515600" cy="1325563"/>
          </a:xfrm>
        </p:spPr>
        <p:txBody>
          <a:bodyPr/>
          <a:p>
            <a:pPr algn="ctr"/>
            <a:r>
              <a:rPr lang="en-US" sz="6000" b="1">
                <a:latin typeface="Calibri" panose="020F0502020204030204" charset="0"/>
                <a:cs typeface="Calibri" panose="020F0502020204030204" charset="0"/>
              </a:rPr>
              <a:t>THANK YOU</a:t>
            </a:r>
            <a:endParaRPr lang="en-US" sz="6000" b="1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4031</Words>
  <Application>WPS Presentation</Application>
  <PresentationFormat>Widescreen</PresentationFormat>
  <Paragraphs>189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Times New Roman</vt:lpstr>
      <vt:lpstr>Office Theme</vt:lpstr>
      <vt:lpstr>Serverless Data Processing System using AWS (EC2, Lambda, S3, DynamoDB, SQS, SNS)</vt:lpstr>
      <vt:lpstr>PROJECT OVERVIEW</vt:lpstr>
      <vt:lpstr>PROBLEM STATEMENT</vt:lpstr>
      <vt:lpstr>SOLUTION ARCHITECTURE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Amritha SS</cp:lastModifiedBy>
  <cp:revision>4</cp:revision>
  <dcterms:created xsi:type="dcterms:W3CDTF">2025-07-23T00:59:00Z</dcterms:created>
  <dcterms:modified xsi:type="dcterms:W3CDTF">2026-02-02T11:10:18Z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9F28D40495674495B4602CAAB4C7A6C9_11</vt:lpwstr>
  </property>
  <property fmtid="{D5CDD505-2E9C-101B-9397-08002B2CF9AE}" pid="3" name="KSOProductBuildVer">
    <vt:lpwstr>1033-12.2.0.23196</vt:lpwstr>
  </property>
</Properties>
</file>